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 Tight Light"/>
      <p:regular r:id="rId7"/>
      <p:bold r:id="rId8"/>
      <p:italic r:id="rId9"/>
      <p:boldItalic r:id="rId10"/>
    </p:embeddedFont>
    <p:embeddedFont>
      <p:font typeface="Inter Tight"/>
      <p:regular r:id="rId11"/>
      <p:bold r:id="rId12"/>
      <p:italic r:id="rId13"/>
      <p:boldItalic r:id="rId14"/>
    </p:embeddedFont>
    <p:embeddedFont>
      <p:font typeface="Inter Tight ExtraLight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Tigh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TightLight-regular.fntdata"/><Relationship Id="rId8" Type="http://schemas.openxmlformats.org/officeDocument/2006/relationships/font" Target="fonts/InterTightLight-bold.fntdata"/><Relationship Id="rId20" Type="http://schemas.openxmlformats.org/officeDocument/2006/relationships/font" Target="fonts/CenturyGothic-bold.fntdata"/><Relationship Id="rId22" Type="http://schemas.openxmlformats.org/officeDocument/2006/relationships/font" Target="fonts/CenturyGothic-boldItalic.fntdata"/><Relationship Id="rId21" Type="http://schemas.openxmlformats.org/officeDocument/2006/relationships/font" Target="fonts/CenturyGothic-italic.fntdata"/><Relationship Id="rId11" Type="http://schemas.openxmlformats.org/officeDocument/2006/relationships/font" Target="fonts/InterTight-regular.fntdata"/><Relationship Id="rId10" Type="http://schemas.openxmlformats.org/officeDocument/2006/relationships/font" Target="fonts/InterTightLight-boldItalic.fntdata"/><Relationship Id="rId13" Type="http://schemas.openxmlformats.org/officeDocument/2006/relationships/font" Target="fonts/InterTight-italic.fntdata"/><Relationship Id="rId12" Type="http://schemas.openxmlformats.org/officeDocument/2006/relationships/font" Target="fonts/InterTight-bold.fntdata"/><Relationship Id="rId15" Type="http://schemas.openxmlformats.org/officeDocument/2006/relationships/font" Target="fonts/InterTightExtraLight-regular.fntdata"/><Relationship Id="rId14" Type="http://schemas.openxmlformats.org/officeDocument/2006/relationships/font" Target="fonts/InterTight-boldItalic.fntdata"/><Relationship Id="rId17" Type="http://schemas.openxmlformats.org/officeDocument/2006/relationships/font" Target="fonts/InterTightExtraLight-italic.fntdata"/><Relationship Id="rId16" Type="http://schemas.openxmlformats.org/officeDocument/2006/relationships/font" Target="fonts/InterTightExtraLight-bold.fntdata"/><Relationship Id="rId19" Type="http://schemas.openxmlformats.org/officeDocument/2006/relationships/font" Target="fonts/CenturyGothic-regular.fntdata"/><Relationship Id="rId18" Type="http://schemas.openxmlformats.org/officeDocument/2006/relationships/font" Target="fonts/InterTight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9ad122fb0_1_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c9ad122fb0_1_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9ad122fb0_1_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">
  <p:cSld name="REOOH-#3COV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title="turing-works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tw_white_transparen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 1">
  <p:cSld name="REOOH-#3COVER SLIDE_1">
    <p:bg>
      <p:bgPr>
        <a:solidFill>
          <a:srgbClr val="072E4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uring-works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tw_white_transpar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one third" showMasterSp="0">
  <p:cSld name="D. Green one third">
    <p:bg>
      <p:bgPr>
        <a:solidFill>
          <a:srgbClr val="0D425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Four column green" showMasterSp="0">
  <p:cSld name="D. Four column green">
    <p:bg>
      <p:bgPr>
        <a:solidFill>
          <a:srgbClr val="0D425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677193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677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29842" y="431231"/>
            <a:ext cx="5919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9842" y="717805"/>
            <a:ext cx="5919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" name="Google Shape;32;p6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one third" showMasterSp="0">
  <p:cSld name="Green one third">
    <p:bg>
      <p:bgPr>
        <a:solidFill>
          <a:srgbClr val="0D425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F2F2F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629841" y="911597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pic>
        <p:nvPicPr>
          <p:cNvPr id="49" name="Google Shape;49;p9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">
  <p:cSld name="D. Blank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ne" showMasterSp="0">
  <p:cSld name="Section header line">
    <p:bg>
      <p:bgPr>
        <a:solidFill>
          <a:srgbClr val="0D42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629842" y="2870100"/>
            <a:ext cx="7885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6" name="Google Shape;56;p11"/>
          <p:cNvCxnSpPr/>
          <p:nvPr/>
        </p:nvCxnSpPr>
        <p:spPr>
          <a:xfrm>
            <a:off x="629842" y="2760012"/>
            <a:ext cx="8516400" cy="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box" showMasterSp="0">
  <p:cSld name="Section header box">
    <p:bg>
      <p:bgPr>
        <a:solidFill>
          <a:srgbClr val="0D425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2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80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slice heading">
  <p:cSld name="Gray slice heading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Inter Tight ExtraLight"/>
              <a:buNone/>
              <a:defRPr>
                <a:latin typeface="Inter Tight ExtraLight"/>
                <a:ea typeface="Inter Tight ExtraLight"/>
                <a:cs typeface="Inter Tight ExtraLight"/>
                <a:sym typeface="Inter Tight Extra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629842" y="1158206"/>
            <a:ext cx="24321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67" name="Google Shape;67;p1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one third" showMasterSp="0">
  <p:cSld name="White one third">
    <p:bg>
      <p:bgPr>
        <a:solidFill>
          <a:srgbClr val="0D425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73" name="Google Shape;73;p1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ighlight" showMasterSp="0">
  <p:cSld name="Green highlight">
    <p:bg>
      <p:bgPr>
        <a:solidFill>
          <a:srgbClr val="0D425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>
              <a:solidFill>
                <a:srgbClr val="0D425C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alf" showMasterSp="0">
  <p:cSld name="Green half">
    <p:bg>
      <p:bgPr>
        <a:solidFill>
          <a:srgbClr val="0D425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629842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4569031" y="4710852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86" name="Google Shape;86;p1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wo third" showMasterSp="0">
  <p:cSld name="Green two third">
    <p:bg>
      <p:bgPr>
        <a:solidFill>
          <a:srgbClr val="0D425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629842" y="1339200"/>
            <a:ext cx="45285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arrow" showMasterSp="0">
  <p:cSld name="Left arrow">
    <p:bg>
      <p:bgPr>
        <a:solidFill>
          <a:srgbClr val="0D425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629842" y="2085975"/>
            <a:ext cx="17016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left arrow" showMasterSp="0">
  <p:cSld name="Green left arrow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629842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one third" showMasterSp="0">
  <p:cSld name="Arrow one third">
    <p:bg>
      <p:bgPr>
        <a:solidFill>
          <a:srgbClr val="0D425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one third" showMasterSp="0">
  <p:cSld name="Green arrow one third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9pPr>
          </a:lstStyle>
          <a:p/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 1" showMasterSp="0">
  <p:cSld name="Arrow half_1">
    <p:bg>
      <p:bgPr>
        <a:solidFill>
          <a:srgbClr val="0D425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43210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half 1" showMasterSp="0">
  <p:cSld name="Green arrow half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4192053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two third" showMasterSp="0">
  <p:cSld name="Arrow two third">
    <p:bg>
      <p:bgPr>
        <a:solidFill>
          <a:srgbClr val="0D425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two third" showMasterSp="0">
  <p:cSld name="Green arrow two third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9" name="Google Shape;139;p25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141" name="Google Shape;141;p2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green" showMasterSp="0">
  <p:cSld name="Big statement green">
    <p:bg>
      <p:bgPr>
        <a:solidFill>
          <a:srgbClr val="0D425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icon">
  <p:cSld name="Big statement icon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7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noFill/>
          <a:ln cap="flat" cmpd="sng" w="8075">
            <a:solidFill>
              <a:srgbClr val="0D42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````</a:t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4100"/>
              <a:buNone/>
              <a:defRPr sz="4100">
                <a:solidFill>
                  <a:srgbClr val="0D42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bg>
      <p:bgPr>
        <a:solidFill>
          <a:srgbClr val="072F4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2" name="Google Shape;152;p28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cial gray" showMasterSp="0">
  <p:cSld name="Special gray">
    <p:bg>
      <p:bgPr>
        <a:solidFill>
          <a:srgbClr val="2C2C2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green" showMasterSp="0">
  <p:cSld name="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laimer">
  <p:cSld name="Disclaimer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165" name="Google Shape;165;p32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166" name="Google Shape;166;p32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3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guide">
  <p:cSld name="Layout guide"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70" name="Google Shape;170;p33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171" name="Google Shape;171;p33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73" name="Google Shape;173;p33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174" name="Google Shape;174;p33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33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33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3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3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3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3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3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3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33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33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33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33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33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33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33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33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33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33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33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4" name="Google Shape;194;p33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195" name="Google Shape;195;p33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7" name="Google Shape;197;p33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8" name="Google Shape;198;p33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1" name="Google Shape;201;p33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2" name="Google Shape;202;p33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3" name="Google Shape;203;p33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4" name="Google Shape;204;p33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5" name="Google Shape;205;p33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06" name="Google Shape;206;p33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08" name="Google Shape;208;p33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209" name="Google Shape;209;p33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33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1" name="Google Shape;211;p33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2" name="Google Shape;212;p33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3" name="Google Shape;213;p33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4" name="Google Shape;214;p33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33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Slide" showMasterSp="0">
  <p:cSld name="D. Title Slide">
    <p:bg>
      <p:bgPr>
        <a:solidFill>
          <a:schemeClr val="accen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17" name="Google Shape;21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25003"/>
            <a:ext cx="9143998" cy="518755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2936810" y="2995127"/>
            <a:ext cx="327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Char char="​"/>
              <a:defRPr sz="14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664369" y="2140847"/>
            <a:ext cx="78294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67450" spcFirstLastPara="1" rIns="26745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Century Gothic"/>
              <a:buNone/>
              <a:defRPr b="1" sz="33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and Text">
  <p:cSld name="D. Title and Text"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22" name="Google Shape;22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2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ay slice heading">
  <p:cSld name="D. Gray slice heading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6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36"/>
          <p:cNvSpPr txBox="1"/>
          <p:nvPr>
            <p:ph idx="1" type="subTitle"/>
          </p:nvPr>
        </p:nvSpPr>
        <p:spPr>
          <a:xfrm>
            <a:off x="629841" y="1619240"/>
            <a:ext cx="2650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36"/>
          <p:cNvSpPr txBox="1"/>
          <p:nvPr>
            <p:ph type="title"/>
          </p:nvPr>
        </p:nvSpPr>
        <p:spPr>
          <a:xfrm>
            <a:off x="629841" y="920286"/>
            <a:ext cx="2650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box">
  <p:cSld name="D. Section header box"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7"/>
          <p:cNvSpPr/>
          <p:nvPr/>
        </p:nvSpPr>
        <p:spPr>
          <a:xfrm>
            <a:off x="960520" y="1068061"/>
            <a:ext cx="713700" cy="713700"/>
          </a:xfrm>
          <a:prstGeom prst="rect">
            <a:avLst/>
          </a:prstGeom>
          <a:noFill/>
          <a:ln cap="flat" cmpd="sng" w="80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line">
  <p:cSld name="D. Section header line"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629841" y="2870100"/>
            <a:ext cx="7174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39" name="Google Shape;239;p38"/>
          <p:cNvCxnSpPr/>
          <p:nvPr/>
        </p:nvCxnSpPr>
        <p:spPr>
          <a:xfrm>
            <a:off x="629841" y="2760012"/>
            <a:ext cx="8511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White one third" showMasterSp="0">
  <p:cSld name="D. White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9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39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ighlight" showMasterSp="0">
  <p:cSld name="D. Green highlight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0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629842" y="431231"/>
            <a:ext cx="4550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629842" y="717805"/>
            <a:ext cx="4550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alf" showMasterSp="0">
  <p:cSld name="D. Green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41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>
            <p:ph type="title"/>
          </p:nvPr>
        </p:nvSpPr>
        <p:spPr>
          <a:xfrm>
            <a:off x="629841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two third" showMasterSp="0">
  <p:cSld name="D. Green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2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42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629841" y="1339200"/>
            <a:ext cx="4529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4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eft arrow" showMasterSp="0">
  <p:cSld name="D. Left arro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4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1" name="Google Shape;271;p43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left arrow" showMasterSp="0">
  <p:cSld name="D. Green left arrow">
    <p:bg>
      <p:bgPr>
        <a:solidFill>
          <a:schemeClr val="l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4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7" name="Google Shape;277;p44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8" name="Google Shape;278;p4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one third" showMasterSp="0">
  <p:cSld name="D. Arrow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45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Gothic"/>
              <a:buNone/>
              <a:defRPr b="1" sz="3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3" name="Google Shape;28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one third" showMasterSp="0">
  <p:cSld name="D. Green arrow one third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Gothic"/>
              <a:buNone/>
              <a:defRPr b="1" sz="3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9" name="Google Shape;289;p46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0" name="Google Shape;290;p4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" showMasterSp="0">
  <p:cSld name="D. Arrow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4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94" name="Google Shape;29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5" name="Google Shape;295;p4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96" name="Google Shape;296;p47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half" showMasterSp="0">
  <p:cSld name="D. Green arrow half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4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1" name="Google Shape;301;p48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2" name="Google Shape;302;p48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3" name="Google Shape;303;p4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two third" showMasterSp="0">
  <p:cSld name="D. Arrow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4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8" name="Google Shape;30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9" name="Google Shape;309;p49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4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two third" showMasterSp="0">
  <p:cSld name="D. Green arrow two third"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5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5" name="Google Shape;315;p50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16" name="Google Shape;316;p5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7" name="Google Shape;317;p50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green" showMasterSp="0">
  <p:cSld name="D. Big statement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entury Gothic"/>
              <a:buNone/>
              <a:defRPr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icon">
  <p:cSld name="D. Big statement icon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52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solidFill>
            <a:schemeClr val="lt2"/>
          </a:solidFill>
          <a:ln cap="flat" cmpd="sng" w="8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52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Quote" showMasterSp="0">
  <p:cSld name="D. Quote">
    <p:bg>
      <p:bgPr>
        <a:solidFill>
          <a:srgbClr val="E0360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9" name="Google Shape;329;p53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0" name="Google Shape;330;p53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F5F2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5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pecial gray" showMasterSp="0">
  <p:cSld name="D. Special gray">
    <p:bg>
      <p:bgPr>
        <a:solidFill>
          <a:srgbClr val="2C2C2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5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able of contents" showMasterSp="0">
  <p:cSld name="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55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341" name="Google Shape;341;p5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42" name="Google Shape;34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43" name="Google Shape;343;p5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 green" showMasterSp="0">
  <p:cSld name="D. 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6" name="Google Shape;346;p5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Disclaimer">
  <p:cSld name="D. Disclaim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9" name="Google Shape;349;p57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350" name="Google Shape;350;p57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351" name="Google Shape;351;p57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End" showMasterSp="0">
  <p:cSld name="D. End">
    <p:bg>
      <p:bgPr>
        <a:solidFill>
          <a:schemeClr val="accen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8"/>
          <p:cNvPicPr preferRelativeResize="0"/>
          <p:nvPr/>
        </p:nvPicPr>
        <p:blipFill rotWithShape="1">
          <a:blip r:embed="rId2">
            <a:alphaModFix/>
          </a:blip>
          <a:srcRect b="0" l="-1249" r="504" t="0"/>
          <a:stretch/>
        </p:blipFill>
        <p:spPr>
          <a:xfrm>
            <a:off x="0" y="1"/>
            <a:ext cx="9144002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8"/>
          <p:cNvPicPr preferRelativeResize="0"/>
          <p:nvPr/>
        </p:nvPicPr>
        <p:blipFill rotWithShape="1">
          <a:blip r:embed="rId3">
            <a:alphaModFix/>
          </a:blip>
          <a:srcRect b="5969" l="0" r="11442" t="25888"/>
          <a:stretch/>
        </p:blipFill>
        <p:spPr>
          <a:xfrm>
            <a:off x="2895493" y="1553163"/>
            <a:ext cx="3354350" cy="2037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ayout guide">
  <p:cSld name="D. Layout guide"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357" name="Google Shape;357;p59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358" name="Google Shape;358;p59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p59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60" name="Google Shape;360;p59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361" name="Google Shape;361;p59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59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59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59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59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59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59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59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59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59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59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59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59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59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59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59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59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59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59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59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81" name="Google Shape;381;p59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382" name="Google Shape;382;p59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3" name="Google Shape;383;p59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4" name="Google Shape;384;p59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5" name="Google Shape;385;p59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6" name="Google Shape;386;p59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7" name="Google Shape;387;p59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8" name="Google Shape;388;p59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9" name="Google Shape;389;p59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0" name="Google Shape;390;p59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1" name="Google Shape;391;p59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2" name="Google Shape;392;p59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393" name="Google Shape;393;p59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95" name="Google Shape;395;p59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396" name="Google Shape;396;p59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7" name="Google Shape;397;p59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8" name="Google Shape;398;p59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9" name="Google Shape;399;p59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00" name="Google Shape;400;p59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401" name="Google Shape;401;p59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2" name="Google Shape;402;p59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 Overview" showMasterSp="0">
  <p:cSld name="Agenda Section Header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0"/>
          <p:cNvSpPr/>
          <p:nvPr/>
        </p:nvSpPr>
        <p:spPr>
          <a:xfrm>
            <a:off x="1041109" y="3518390"/>
            <a:ext cx="697200" cy="7470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1882112" y="3518390"/>
            <a:ext cx="1177500" cy="1101300"/>
          </a:xfrm>
          <a:prstGeom prst="rect">
            <a:avLst/>
          </a:prstGeom>
          <a:noFill/>
          <a:ln cap="flat" cmpd="sng" w="7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35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472500" y="680399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60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08" name="Google Shape;408;p6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" showMasterSp="0">
  <p:cSld name="Agenda Section Header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1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61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6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Full Width Overview" showMasterSp="0">
  <p:cSld name="Agenda Full Width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15" name="Google Shape;415;p62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6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Two-Thirds" showMasterSp="0">
  <p:cSld name="Agenda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3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3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63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21" name="Google Shape;421;p6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 Overview">
  <p:cSld name="Agenda D. Section Header Overview">
    <p:bg>
      <p:bgPr>
        <a:solidFill>
          <a:schemeClr val="lt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/>
          <p:nvPr/>
        </p:nvSpPr>
        <p:spPr>
          <a:xfrm>
            <a:off x="1041109" y="3518390"/>
            <a:ext cx="6972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64"/>
          <p:cNvSpPr/>
          <p:nvPr/>
        </p:nvSpPr>
        <p:spPr>
          <a:xfrm>
            <a:off x="1882112" y="3518390"/>
            <a:ext cx="11775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64"/>
          <p:cNvSpPr txBox="1"/>
          <p:nvPr/>
        </p:nvSpPr>
        <p:spPr>
          <a:xfrm>
            <a:off x="472500" y="680398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64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">
  <p:cSld name="Agenda D. Section Header">
    <p:bg>
      <p:bgPr>
        <a:solidFill>
          <a:schemeClr val="lt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65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Full Width Overview">
  <p:cSld name="Agenda D. Full Width Overview">
    <p:bg>
      <p:bgPr>
        <a:solidFill>
          <a:schemeClr val="lt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32" name="Google Shape;432;p66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wo-Thirds" showMasterSp="0">
  <p:cSld name="Agenda D.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67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37" name="Google Shape;437;p6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able of Contents" showMasterSp="0">
  <p:cSld name="Agenda 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1" name="Google Shape;441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42" name="Google Shape;442;p68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443" name="Google Shape;443;p6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 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6" name="Google Shape;446;p69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2023 by Boston Consulting Group. All rights reserved.</a:t>
            </a:r>
            <a:endParaRPr sz="500">
              <a:solidFill>
                <a:srgbClr val="00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69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lt2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0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0" name="Google Shape;450;p70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2018 by The Boston Consulting Group, Inc. All rights reserved.</a:t>
            </a:r>
            <a:endParaRPr sz="1100"/>
          </a:p>
        </p:txBody>
      </p:sp>
      <p:sp>
        <p:nvSpPr>
          <p:cNvPr id="451" name="Google Shape;451;p70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entury Gothic"/>
              <a:buNone/>
              <a:defRPr b="0" i="0" sz="26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bg>
      <p:bgPr>
        <a:solidFill>
          <a:schemeClr val="lt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5" name="Google Shape;455;p72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72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BA73"/>
              </a:buClr>
              <a:buSzPts val="2600"/>
              <a:buFont typeface="Trebuchet MS"/>
              <a:buNone/>
              <a:defRPr b="0" i="0" sz="2600" u="none">
                <a:solidFill>
                  <a:srgbClr val="28BA7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1">
  <p:cSld name="D. Title Only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9" name="Google Shape;459;p73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73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B">
  <p:cSld name="Cover 1B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8450" y="0"/>
            <a:ext cx="24955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150" y="0"/>
            <a:ext cx="37528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4"/>
          <p:cNvSpPr txBox="1"/>
          <p:nvPr>
            <p:ph idx="12" type="sldNum"/>
          </p:nvPr>
        </p:nvSpPr>
        <p:spPr>
          <a:xfrm>
            <a:off x="394855" y="4502365"/>
            <a:ext cx="17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March 2024</a:t>
            </a:r>
            <a:endParaRPr/>
          </a:p>
        </p:txBody>
      </p:sp>
      <p:sp>
        <p:nvSpPr>
          <p:cNvPr id="466" name="Google Shape;466;p74"/>
          <p:cNvSpPr txBox="1"/>
          <p:nvPr>
            <p:ph type="ctrTitle"/>
          </p:nvPr>
        </p:nvSpPr>
        <p:spPr>
          <a:xfrm>
            <a:off x="394855" y="476740"/>
            <a:ext cx="4985400" cy="3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467" name="Google Shape;46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9032" y="359569"/>
            <a:ext cx="1534742" cy="71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 1" showMasterSp="0">
  <p:cSld name="D. Arrow half_1">
    <p:bg>
      <p:bgPr>
        <a:solidFill>
          <a:schemeClr val="dk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5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5"/>
          <p:cNvSpPr txBox="1"/>
          <p:nvPr>
            <p:ph type="title"/>
          </p:nvPr>
        </p:nvSpPr>
        <p:spPr>
          <a:xfrm>
            <a:off x="472500" y="467100"/>
            <a:ext cx="3561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57575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71" name="Google Shape;471;p75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75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© 2023 by Boston Consulting Group. All rights reserved.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5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2">
  <p:cSld name="D. Title Only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76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D">
  <p:cSld name="Section divider D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80" name="Google Shape;480;p77"/>
          <p:cNvSpPr txBox="1"/>
          <p:nvPr>
            <p:ph idx="1" type="body"/>
          </p:nvPr>
        </p:nvSpPr>
        <p:spPr>
          <a:xfrm>
            <a:off x="403129" y="3832310"/>
            <a:ext cx="83379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1" name="Google Shape;481;p77"/>
          <p:cNvSpPr txBox="1"/>
          <p:nvPr>
            <p:ph type="ctrTitle"/>
          </p:nvPr>
        </p:nvSpPr>
        <p:spPr>
          <a:xfrm>
            <a:off x="403129" y="2971800"/>
            <a:ext cx="8337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82" name="Google Shape;482;p77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3" name="Google Shape;483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4588" y="0"/>
            <a:ext cx="2199407" cy="161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9377" y="0"/>
            <a:ext cx="2424619" cy="17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8619" y="197151"/>
            <a:ext cx="948815" cy="440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8"/>
          <p:cNvSpPr txBox="1"/>
          <p:nvPr/>
        </p:nvSpPr>
        <p:spPr>
          <a:xfrm>
            <a:off x="435895" y="4219575"/>
            <a:ext cx="83379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GPO Box 367 Canberra ACT 2601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Alan Woods Building, 25 Constitution Avenue, Canberra ACT 2600, Australia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T: 61 2 6268 4111   F: 61 2 6268 5693   ABN: 59 698 720 886</a:t>
            </a:r>
            <a:endParaRPr sz="1100"/>
          </a:p>
        </p:txBody>
      </p:sp>
      <p:sp>
        <p:nvSpPr>
          <p:cNvPr id="488" name="Google Shape;488;p78"/>
          <p:cNvSpPr txBox="1"/>
          <p:nvPr>
            <p:ph idx="1" type="body"/>
          </p:nvPr>
        </p:nvSpPr>
        <p:spPr>
          <a:xfrm>
            <a:off x="403129" y="1861457"/>
            <a:ext cx="83379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78"/>
          <p:cNvSpPr txBox="1"/>
          <p:nvPr>
            <p:ph type="ctrTitle"/>
          </p:nvPr>
        </p:nvSpPr>
        <p:spPr>
          <a:xfrm>
            <a:off x="403129" y="1058266"/>
            <a:ext cx="8337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90" name="Google Shape;490;p78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hone 1">
  <p:cSld name="TITLE_AND_BODY_1_1_1_1_1_3">
    <p:bg>
      <p:bgPr>
        <a:solidFill>
          <a:srgbClr val="016B64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9"/>
          <p:cNvSpPr txBox="1"/>
          <p:nvPr>
            <p:ph idx="12" type="sldNum"/>
          </p:nvPr>
        </p:nvSpPr>
        <p:spPr>
          <a:xfrm>
            <a:off x="8935665" y="4908650"/>
            <a:ext cx="79500" cy="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7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79"/>
          <p:cNvSpPr/>
          <p:nvPr/>
        </p:nvSpPr>
        <p:spPr>
          <a:xfrm>
            <a:off x="3096372" y="-382"/>
            <a:ext cx="60834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79"/>
          <p:cNvSpPr txBox="1"/>
          <p:nvPr>
            <p:ph idx="10" type="dt"/>
          </p:nvPr>
        </p:nvSpPr>
        <p:spPr>
          <a:xfrm>
            <a:off x="4016206" y="4803775"/>
            <a:ext cx="4455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800"/>
              <a:buNone/>
              <a:defRPr sz="8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96" name="Google Shape;496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096" y="4677304"/>
            <a:ext cx="666577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_AND_TWO_COLUMNS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0"/>
          <p:cNvSpPr txBox="1"/>
          <p:nvPr>
            <p:ph type="title"/>
          </p:nvPr>
        </p:nvSpPr>
        <p:spPr>
          <a:xfrm>
            <a:off x="111600" y="136800"/>
            <a:ext cx="37440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9" name="Google Shape;499;p80"/>
          <p:cNvSpPr txBox="1"/>
          <p:nvPr>
            <p:ph idx="1" type="body"/>
          </p:nvPr>
        </p:nvSpPr>
        <p:spPr>
          <a:xfrm>
            <a:off x="111600" y="796200"/>
            <a:ext cx="8822100" cy="3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500"/>
              </a:spcBef>
              <a:spcAft>
                <a:spcPts val="0"/>
              </a:spcAft>
              <a:buSzPts val="900"/>
              <a:buChar char="​"/>
              <a:defRPr/>
            </a:lvl1pPr>
            <a:lvl2pPr indent="-285750" lvl="1" marL="914400">
              <a:spcBef>
                <a:spcPts val="2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>
              <a:spcBef>
                <a:spcPts val="1200"/>
              </a:spcBef>
              <a:spcAft>
                <a:spcPts val="0"/>
              </a:spcAft>
              <a:buSzPts val="900"/>
              <a:buChar char="–"/>
              <a:defRPr/>
            </a:lvl3pPr>
            <a:lvl4pPr indent="-304800" lvl="3" marL="1828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4pPr>
            <a:lvl5pPr indent="-304800" lvl="4" marL="2286000"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6pPr>
            <a:lvl7pPr indent="-438150" lvl="6" marL="3200400">
              <a:spcBef>
                <a:spcPts val="700"/>
              </a:spcBef>
              <a:spcAft>
                <a:spcPts val="0"/>
              </a:spcAft>
              <a:buSzPts val="3300"/>
              <a:buChar char="​"/>
              <a:defRPr/>
            </a:lvl7pPr>
            <a:lvl8pPr indent="-488950" lvl="7" marL="3657600">
              <a:spcBef>
                <a:spcPts val="700"/>
              </a:spcBef>
              <a:spcAft>
                <a:spcPts val="0"/>
              </a:spcAft>
              <a:buSzPts val="4100"/>
              <a:buChar char="​"/>
              <a:defRPr/>
            </a:lvl8pPr>
            <a:lvl9pPr indent="-342900" lvl="8" marL="4114800">
              <a:spcBef>
                <a:spcPts val="0"/>
              </a:spcBef>
              <a:spcAft>
                <a:spcPts val="700"/>
              </a:spcAft>
              <a:buSzPts val="1800"/>
              <a:buChar char="​"/>
              <a:defRPr/>
            </a:lvl9pPr>
          </a:lstStyle>
          <a:p/>
        </p:txBody>
      </p:sp>
      <p:sp>
        <p:nvSpPr>
          <p:cNvPr id="500" name="Google Shape;500;p80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Google Shape;501;p80"/>
          <p:cNvSpPr txBox="1"/>
          <p:nvPr>
            <p:ph idx="2" type="subTitle"/>
          </p:nvPr>
        </p:nvSpPr>
        <p:spPr>
          <a:xfrm>
            <a:off x="111600" y="500400"/>
            <a:ext cx="24645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900"/>
              <a:buNone/>
              <a:defRPr b="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  <p:pic>
        <p:nvPicPr>
          <p:cNvPr id="502" name="Google Shape;50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9896" y="4677304"/>
            <a:ext cx="666578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. Title Only">
  <p:cSld name="1_D. Title Only">
    <p:bg>
      <p:bgPr>
        <a:solidFill>
          <a:schemeClr val="lt2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5" name="Google Shape;505;p8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06" name="Google Shape;50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1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light">
  <p:cSld name="TITLE_1_2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2"/>
          <p:cNvSpPr/>
          <p:nvPr>
            <p:ph idx="2" type="pic"/>
          </p:nvPr>
        </p:nvSpPr>
        <p:spPr>
          <a:xfrm>
            <a:off x="1718575" y="261106"/>
            <a:ext cx="7425300" cy="48903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82"/>
          <p:cNvSpPr txBox="1"/>
          <p:nvPr>
            <p:ph type="ctrTitle"/>
          </p:nvPr>
        </p:nvSpPr>
        <p:spPr>
          <a:xfrm>
            <a:off x="482400" y="500400"/>
            <a:ext cx="3603600" cy="104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2" name="Google Shape;512;p82"/>
          <p:cNvSpPr txBox="1"/>
          <p:nvPr>
            <p:ph idx="1" type="subTitle"/>
          </p:nvPr>
        </p:nvSpPr>
        <p:spPr>
          <a:xfrm>
            <a:off x="478800" y="3085200"/>
            <a:ext cx="13104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3" name="Google Shape;513;p82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4" name="Google Shape;514;p82"/>
          <p:cNvSpPr txBox="1"/>
          <p:nvPr>
            <p:ph idx="3" type="subTitle"/>
          </p:nvPr>
        </p:nvSpPr>
        <p:spPr>
          <a:xfrm>
            <a:off x="478800" y="3495600"/>
            <a:ext cx="6552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" showMasterSp="0">
  <p:cSld name="Arrow half_2">
    <p:bg>
      <p:bgPr>
        <a:solidFill>
          <a:srgbClr val="016B6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83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472500" y="467100"/>
            <a:ext cx="3505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2600"/>
              <a:buFont typeface="Trebuchet MS"/>
              <a:buNone/>
              <a:defRPr b="0" i="0" sz="2600" u="none">
                <a:solidFill>
                  <a:srgbClr val="016B6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9pPr>
          </a:lstStyle>
          <a:p/>
        </p:txBody>
      </p:sp>
      <p:pic>
        <p:nvPicPr>
          <p:cNvPr id="520" name="Google Shape;520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83" Type="http://schemas.openxmlformats.org/officeDocument/2006/relationships/theme" Target="../theme/theme2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 i="0" sz="800" u="none" cap="none" strike="noStrike"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Tight"/>
              <a:buNone/>
              <a:defRPr b="1" i="0" sz="21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Tight Light"/>
              <a:buChar char="​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indent="-2857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•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–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indent="-304800" lvl="3" marL="18288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 Light"/>
              <a:buChar char="•"/>
              <a:defRPr i="0" sz="12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indent="-43815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 Tight"/>
              <a:buChar char="​"/>
              <a:defRPr b="1" i="0" sz="33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48895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D425C"/>
              </a:buClr>
              <a:buSzPts val="4100"/>
              <a:buFont typeface="Inter Tight"/>
              <a:buChar char="​"/>
              <a:defRPr b="1" i="0" sz="41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D425C"/>
              </a:buClr>
              <a:buSzPts val="1800"/>
              <a:buFont typeface="Inter Tight"/>
              <a:buChar char="​"/>
              <a:defRPr b="1" i="0" sz="18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83">
          <p15:clr>
            <a:srgbClr val="F26B43"/>
          </p15:clr>
        </p15:guide>
        <p15:guide id="2" pos="396">
          <p15:clr>
            <a:srgbClr val="F26B43"/>
          </p15:clr>
        </p15:guide>
        <p15:guide id="3" pos="5359">
          <p15:clr>
            <a:srgbClr val="F26B43"/>
          </p15:clr>
        </p15:guide>
        <p15:guide id="4" orient="horz" pos="27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4"/>
          <p:cNvSpPr/>
          <p:nvPr/>
        </p:nvSpPr>
        <p:spPr>
          <a:xfrm>
            <a:off x="-548640" y="3291840"/>
            <a:ext cx="2377500" cy="2377500"/>
          </a:xfrm>
          <a:prstGeom prst="ellipse">
            <a:avLst/>
          </a:prstGeom>
          <a:solidFill>
            <a:srgbClr val="134F6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84"/>
          <p:cNvSpPr/>
          <p:nvPr/>
        </p:nvSpPr>
        <p:spPr>
          <a:xfrm>
            <a:off x="365760" y="146304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 Tight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Situation</a:t>
            </a:r>
            <a:endParaRPr i="0" sz="28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29" name="Google Shape;529;p84"/>
          <p:cNvSpPr/>
          <p:nvPr/>
        </p:nvSpPr>
        <p:spPr>
          <a:xfrm>
            <a:off x="365760" y="1965960"/>
            <a:ext cx="822900" cy="36600"/>
          </a:xfrm>
          <a:prstGeom prst="rect">
            <a:avLst/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84"/>
          <p:cNvSpPr/>
          <p:nvPr/>
        </p:nvSpPr>
        <p:spPr>
          <a:xfrm>
            <a:off x="365760" y="214884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DCFC9"/>
              </a:buClr>
              <a:buSzPts val="1050"/>
              <a:buFont typeface="Inter Tight"/>
              <a:buNone/>
            </a:pPr>
            <a:r>
              <a:rPr i="0" lang="en-GB" sz="1050" u="none" cap="none" strike="noStrike">
                <a:solidFill>
                  <a:srgbClr val="ADCFC9"/>
                </a:solidFill>
                <a:latin typeface="Inter Tight"/>
                <a:ea typeface="Inter Tight"/>
                <a:cs typeface="Inter Tight"/>
                <a:sym typeface="Inter Tight"/>
              </a:rPr>
              <a:t>Understanding Lyka's</a:t>
            </a:r>
            <a:endParaRPr i="0" sz="10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DCFC9"/>
              </a:buClr>
              <a:buSzPts val="1050"/>
              <a:buFont typeface="Inter Tight"/>
              <a:buNone/>
            </a:pPr>
            <a:r>
              <a:rPr i="0" lang="en-GB" sz="1050" u="none" cap="none" strike="noStrike">
                <a:solidFill>
                  <a:srgbClr val="ADCFC9"/>
                </a:solidFill>
                <a:latin typeface="Inter Tight"/>
                <a:ea typeface="Inter Tight"/>
                <a:cs typeface="Inter Tight"/>
                <a:sym typeface="Inter Tight"/>
              </a:rPr>
              <a:t>context and AI ambitions</a:t>
            </a:r>
            <a:endParaRPr i="0" sz="10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descr="preencoded.png" id="531" name="Google Shape;531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2004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84"/>
          <p:cNvSpPr/>
          <p:nvPr/>
        </p:nvSpPr>
        <p:spPr>
          <a:xfrm>
            <a:off x="3108960" y="320040"/>
            <a:ext cx="5669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18C94"/>
              </a:buClr>
              <a:buSzPts val="1250"/>
              <a:buFont typeface="Inter Tight"/>
              <a:buNone/>
            </a:pPr>
            <a:r>
              <a:rPr b="1" i="0" lang="en-GB" sz="1200" u="none" cap="none" strike="noStrike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Lyka is looking to identify and leverage opportunities where AI and automation can improve operational efficiency across </a:t>
            </a:r>
            <a:r>
              <a:rPr b="1" lang="en-GB" sz="12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its core business operations teams</a:t>
            </a:r>
            <a:r>
              <a:rPr b="1" i="0" lang="en-GB" sz="1200" u="none" cap="none" strike="noStrike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i="0" sz="12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33" name="Google Shape;533;p84"/>
          <p:cNvSpPr/>
          <p:nvPr/>
        </p:nvSpPr>
        <p:spPr>
          <a:xfrm>
            <a:off x="3108960" y="960120"/>
            <a:ext cx="5669400" cy="9000"/>
          </a:xfrm>
          <a:prstGeom prst="rect">
            <a:avLst/>
          </a:prstGeom>
          <a:solidFill>
            <a:srgbClr val="E8E8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4"/>
          <p:cNvSpPr/>
          <p:nvPr/>
        </p:nvSpPr>
        <p:spPr>
          <a:xfrm>
            <a:off x="3108960" y="1099528"/>
            <a:ext cx="5669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150"/>
              <a:buFont typeface="Inter Tight"/>
              <a:buNone/>
            </a:pPr>
            <a:r>
              <a:rPr b="1"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Lyka</a:t>
            </a:r>
            <a:r>
              <a:rPr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is a leading Australian fresh pet food company</a:t>
            </a:r>
            <a:r>
              <a:rPr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with a</a:t>
            </a:r>
            <a:r>
              <a:rPr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complex operation</a:t>
            </a:r>
            <a:r>
              <a:rPr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supported by </a:t>
            </a:r>
            <a:r>
              <a:rPr b="1"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People Operations, Business Operations, and </a:t>
            </a:r>
            <a:r>
              <a:rPr b="1"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Customer Care</a:t>
            </a:r>
            <a:r>
              <a:rPr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. </a:t>
            </a:r>
            <a:r>
              <a:rPr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They</a:t>
            </a:r>
            <a:r>
              <a:rPr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have</a:t>
            </a:r>
            <a:r>
              <a:rPr i="0" lang="en-GB" sz="120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 identified opportunities to raise capability and automate manual processes across these teams</a:t>
            </a:r>
            <a:r>
              <a:rPr lang="en-GB" sz="120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i="0" sz="12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35" name="Google Shape;535;p84"/>
          <p:cNvSpPr/>
          <p:nvPr/>
        </p:nvSpPr>
        <p:spPr>
          <a:xfrm>
            <a:off x="3108960" y="4709160"/>
            <a:ext cx="566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AD90"/>
              </a:buClr>
              <a:buSzPts val="750"/>
              <a:buFont typeface="Inter Tight"/>
              <a:buNone/>
            </a:pPr>
            <a:r>
              <a:rPr b="0" i="1" lang="en-GB" sz="750" u="none" cap="none" strike="noStrike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Source: Initial discussions with Lyka </a:t>
            </a:r>
            <a:r>
              <a:rPr i="1" lang="en-GB" sz="750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ELT Member</a:t>
            </a:r>
            <a:r>
              <a:rPr b="0" i="1" lang="en-GB" sz="750" u="none" cap="none" strike="noStrike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 (</a:t>
            </a:r>
            <a:r>
              <a:rPr i="1" lang="en-GB" sz="750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Mary Dong</a:t>
            </a:r>
            <a:r>
              <a:rPr b="0" i="1" lang="en-GB" sz="750" u="none" cap="none" strike="noStrike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4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4"/>
          <p:cNvSpPr/>
          <p:nvPr/>
        </p:nvSpPr>
        <p:spPr>
          <a:xfrm rot="-5400000">
            <a:off x="8337239" y="-16209"/>
            <a:ext cx="790800" cy="823200"/>
          </a:xfrm>
          <a:prstGeom prst="triangle">
            <a:avLst>
              <a:gd fmla="val 100000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38" name="Google Shape;538;p84"/>
          <p:cNvSpPr/>
          <p:nvPr/>
        </p:nvSpPr>
        <p:spPr>
          <a:xfrm>
            <a:off x="8767908" y="99658"/>
            <a:ext cx="274200" cy="27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ring Works 16:9 - 21039">
  <a:themeElements>
    <a:clrScheme name="Theme Color">
      <a:dk1>
        <a:srgbClr val="000000"/>
      </a:dk1>
      <a:lt1>
        <a:srgbClr val="FEFFFF"/>
      </a:lt1>
      <a:dk2>
        <a:srgbClr val="F2F2F2"/>
      </a:dk2>
      <a:lt2>
        <a:srgbClr val="FFFFFF"/>
      </a:lt2>
      <a:accent1>
        <a:srgbClr val="FF5F2C"/>
      </a:accent1>
      <a:accent2>
        <a:srgbClr val="A30051"/>
      </a:accent2>
      <a:accent3>
        <a:srgbClr val="FF3019"/>
      </a:accent3>
      <a:accent4>
        <a:srgbClr val="FF9933"/>
      </a:accent4>
      <a:accent5>
        <a:srgbClr val="FDBA12"/>
      </a:accent5>
      <a:accent6>
        <a:srgbClr val="276EF1"/>
      </a:accent6>
      <a:hlink>
        <a:srgbClr val="FF5F2C"/>
      </a:hlink>
      <a:folHlink>
        <a:srgbClr val="A3005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